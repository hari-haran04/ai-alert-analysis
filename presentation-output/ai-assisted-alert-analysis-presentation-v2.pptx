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b1ec5e996424d" /><Relationship Type="http://schemas.openxmlformats.org/officeDocument/2006/relationships/extended-properties" Target="/docProps/app.xml" Id="Rc76a3b74ad7b4b9a" /><Relationship Type="http://schemas.openxmlformats.org/officeDocument/2006/relationships/officeDocument" Target="/ppt/presentation.xml" Id="R1cce5adc1869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a577a71aa3461d"/>
  </p:sldMasterIdLst>
  <p:notesMasterIdLst>
    <p:notesMasterId xmlns:r="http://schemas.openxmlformats.org/officeDocument/2006/relationships" r:id="R8a9af999c212479f"/>
  </p:notesMasterIdLst>
  <p:sldIdLst>
    <p:sldId xmlns:r="http://schemas.openxmlformats.org/officeDocument/2006/relationships" id="256" r:id="R5e76e790298f4d5d"/>
    <p:sldId xmlns:r="http://schemas.openxmlformats.org/officeDocument/2006/relationships" id="257" r:id="Rcf763c4dfcab406a"/>
    <p:sldId xmlns:r="http://schemas.openxmlformats.org/officeDocument/2006/relationships" id="258" r:id="Rbf1e903dd9714187"/>
    <p:sldId xmlns:r="http://schemas.openxmlformats.org/officeDocument/2006/relationships" id="259" r:id="Ra97fdae08a234b1e"/>
    <p:sldId xmlns:r="http://schemas.openxmlformats.org/officeDocument/2006/relationships" id="260" r:id="Rf4350d5edb984175"/>
    <p:sldId xmlns:r="http://schemas.openxmlformats.org/officeDocument/2006/relationships" id="261" r:id="R5577d1fe2e634b57"/>
    <p:sldId xmlns:r="http://schemas.openxmlformats.org/officeDocument/2006/relationships" id="262" r:id="Rfe6d02a9064c4e5a"/>
    <p:sldId xmlns:r="http://schemas.openxmlformats.org/officeDocument/2006/relationships" id="263" r:id="Rc0fb256ed4bb426d"/>
    <p:sldId xmlns:r="http://schemas.openxmlformats.org/officeDocument/2006/relationships" id="264" r:id="R5ab8bd0450b6459c"/>
    <p:sldId xmlns:r="http://schemas.openxmlformats.org/officeDocument/2006/relationships" id="265" r:id="R0e9cbc97e1524fca"/>
    <p:sldId xmlns:r="http://schemas.openxmlformats.org/officeDocument/2006/relationships" id="266" r:id="R81e03ef20a0644b1"/>
    <p:sldId xmlns:r="http://schemas.openxmlformats.org/officeDocument/2006/relationships" id="267" r:id="R11a4636cea554f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7de67320b04aad" /><Relationship Type="http://schemas.openxmlformats.org/officeDocument/2006/relationships/slideMaster" Target="/ppt/slideMasters/slideMaster1.xml" Id="Rf5a577a71aa3461d" /><Relationship Type="http://schemas.openxmlformats.org/officeDocument/2006/relationships/notesMaster" Target="/ppt/notesMasters/notesMaster1.xml" Id="R8a9af999c212479f" /><Relationship Type="http://schemas.openxmlformats.org/officeDocument/2006/relationships/presProps" Target="/ppt/presProps.xml" Id="R2d0d702d721f44a7" /><Relationship Type="http://schemas.openxmlformats.org/officeDocument/2006/relationships/tableStyles" Target="/ppt/tableStyles.xml" Id="Rc21a924c49cd40e7" /><Relationship Type="http://schemas.openxmlformats.org/officeDocument/2006/relationships/slide" Target="/ppt/slides/slide1.xml" Id="R5e76e790298f4d5d" /><Relationship Type="http://schemas.openxmlformats.org/officeDocument/2006/relationships/slide" Target="/ppt/slides/slide2.xml" Id="Rcf763c4dfcab406a" /><Relationship Type="http://schemas.openxmlformats.org/officeDocument/2006/relationships/slide" Target="/ppt/slides/slide3.xml" Id="Rbf1e903dd9714187" /><Relationship Type="http://schemas.openxmlformats.org/officeDocument/2006/relationships/slide" Target="/ppt/slides/slide4.xml" Id="Ra97fdae08a234b1e" /><Relationship Type="http://schemas.openxmlformats.org/officeDocument/2006/relationships/slide" Target="/ppt/slides/slide5.xml" Id="Rf4350d5edb984175" /><Relationship Type="http://schemas.openxmlformats.org/officeDocument/2006/relationships/slide" Target="/ppt/slides/slide6.xml" Id="R5577d1fe2e634b57" /><Relationship Type="http://schemas.openxmlformats.org/officeDocument/2006/relationships/slide" Target="/ppt/slides/slide7.xml" Id="Rfe6d02a9064c4e5a" /><Relationship Type="http://schemas.openxmlformats.org/officeDocument/2006/relationships/slide" Target="/ppt/slides/slide8.xml" Id="Rc0fb256ed4bb426d" /><Relationship Type="http://schemas.openxmlformats.org/officeDocument/2006/relationships/slide" Target="/ppt/slides/slide9.xml" Id="R5ab8bd0450b6459c" /><Relationship Type="http://schemas.openxmlformats.org/officeDocument/2006/relationships/slide" Target="/ppt/slides/slide10.xml" Id="R0e9cbc97e1524fca" /><Relationship Type="http://schemas.openxmlformats.org/officeDocument/2006/relationships/slide" Target="/ppt/slides/slide11.xml" Id="R81e03ef20a0644b1" /><Relationship Type="http://schemas.openxmlformats.org/officeDocument/2006/relationships/slide" Target="/ppt/slides/slide12.xml" Id="R11a4636cea55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016735b0843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b443084b0a4fba" /><Relationship Type="http://schemas.openxmlformats.org/officeDocument/2006/relationships/notesMaster" Target="/ppt/notesMasters/notesMaster1.xml" Id="R2e4606281ceb44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c19cef9f904bed" /><Relationship Type="http://schemas.openxmlformats.org/officeDocument/2006/relationships/notesMaster" Target="/ppt/notesMasters/notesMaster1.xml" Id="Ra13cbbff3a864d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cfefe087a4d9e" /><Relationship Type="http://schemas.openxmlformats.org/officeDocument/2006/relationships/notesMaster" Target="/ppt/notesMasters/notesMaster1.xml" Id="Re4dde091929245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570d178c9d4ff8" /><Relationship Type="http://schemas.openxmlformats.org/officeDocument/2006/relationships/notesMaster" Target="/ppt/notesMasters/notesMaster1.xml" Id="R364a5da3c5eb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0b6eecae594bc2" /><Relationship Type="http://schemas.openxmlformats.org/officeDocument/2006/relationships/notesMaster" Target="/ppt/notesMasters/notesMaster1.xml" Id="Ra5d44e8ea7c247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1d585eb4e846de" /><Relationship Type="http://schemas.openxmlformats.org/officeDocument/2006/relationships/notesMaster" Target="/ppt/notesMasters/notesMaster1.xml" Id="R20607b5f50d249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05a9750dd04d94" /><Relationship Type="http://schemas.openxmlformats.org/officeDocument/2006/relationships/notesMaster" Target="/ppt/notesMasters/notesMaster1.xml" Id="R7323919e251144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6d3f2c39824493" /><Relationship Type="http://schemas.openxmlformats.org/officeDocument/2006/relationships/notesMaster" Target="/ppt/notesMasters/notesMaster1.xml" Id="R4d6fe740793647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e69131f4014864" /><Relationship Type="http://schemas.openxmlformats.org/officeDocument/2006/relationships/notesMaster" Target="/ppt/notesMasters/notesMaster1.xml" Id="R03732507236c49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889360cfc04966" /><Relationship Type="http://schemas.openxmlformats.org/officeDocument/2006/relationships/notesMaster" Target="/ppt/notesMasters/notesMaster1.xml" Id="Ra916a1829da64b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47e2e0229e4457" /><Relationship Type="http://schemas.openxmlformats.org/officeDocument/2006/relationships/notesMaster" Target="/ppt/notesMasters/notesMaster1.xml" Id="R1b595ed5272c46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a884e0fa544e89" /><Relationship Type="http://schemas.openxmlformats.org/officeDocument/2006/relationships/notesMaster" Target="/ppt/notesMasters/notesMaster1.xml" Id="R5b1228182b1744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project README and implemented FastAPI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ee9a1ce1d42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29301a6924b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8bc093dfd43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5bd73b39c42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49cad6d3148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c7c5654a447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A7D433-9E88-4F4B-8CD7-AEDC0972A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BA78B0-E2BE-440A-BBCB-F0686BBACD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355E06-80E4-4540-A609-824906C9E0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D88A95-A000-4660-B53D-BA43E93D8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C84159-53FC-409F-924D-56E5EFEE97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CEE5CF-D111-4DCD-BD4F-93A7AFB1C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EF5DA4-FE4C-4CC2-AC7A-42A7FF4408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D69545-6D61-4EB3-9A0C-ECEA76A934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5D9DFA-7CAB-4DCE-AF85-E51CAD6F8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02094ED-E50C-420B-9F21-86371B152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15070940bc40df" /><Relationship Type="http://schemas.openxmlformats.org/officeDocument/2006/relationships/slideLayout" Target="/ppt/slideLayouts/slideLayout1.xml" Id="Rd9bd89cbff35409d" /><Relationship Type="http://schemas.openxmlformats.org/officeDocument/2006/relationships/slideLayout" Target="/ppt/slideLayouts/slideLayout2.xml" Id="Rb5a42e67358c4019" /><Relationship Type="http://schemas.openxmlformats.org/officeDocument/2006/relationships/slideLayout" Target="/ppt/slideLayouts/slideLayout3.xml" Id="R4079fb59c7ef43b0" /><Relationship Type="http://schemas.openxmlformats.org/officeDocument/2006/relationships/slideLayout" Target="/ppt/slideLayouts/slideLayout4.xml" Id="R68ee962e4aea4340" /><Relationship Type="http://schemas.openxmlformats.org/officeDocument/2006/relationships/slideLayout" Target="/ppt/slideLayouts/slideLayout5.xml" Id="R94b9fd358d5546b9" /><Relationship Type="http://schemas.openxmlformats.org/officeDocument/2006/relationships/slideLayout" Target="/ppt/slideLayouts/slideLayout6.xml" Id="Rff4612f25bb7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bd89cbff35409d"/>
    <p:sldLayoutId xmlns:r="http://schemas.openxmlformats.org/officeDocument/2006/relationships" id="2147483650" r:id="Rb5a42e67358c4019"/>
    <p:sldLayoutId xmlns:r="http://schemas.openxmlformats.org/officeDocument/2006/relationships" id="2147483651" r:id="R4079fb59c7ef43b0"/>
    <p:sldLayoutId xmlns:r="http://schemas.openxmlformats.org/officeDocument/2006/relationships" id="2147483652" r:id="R68ee962e4aea4340"/>
    <p:sldLayoutId xmlns:r="http://schemas.openxmlformats.org/officeDocument/2006/relationships" id="2147483653" r:id="R94b9fd358d5546b9"/>
    <p:sldLayoutId xmlns:r="http://schemas.openxmlformats.org/officeDocument/2006/relationships" id="2147483654" r:id="Rff4612f25bb7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2df30ba6d49f5" /><Relationship Type="http://schemas.openxmlformats.org/officeDocument/2006/relationships/notesSlide" Target="/ppt/notesSlides/notesSlide1.xml" Id="Re973286a276e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00bb696004390" /><Relationship Type="http://schemas.openxmlformats.org/officeDocument/2006/relationships/notesSlide" Target="/ppt/notesSlides/notesSlide2.xml" Id="Re4a0691a25924f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ecfe546494d4f" /><Relationship Type="http://schemas.openxmlformats.org/officeDocument/2006/relationships/notesSlide" Target="/ppt/notesSlides/notesSlide3.xml" Id="R91c79334cf7a4a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6e512c9d84004" /><Relationship Type="http://schemas.openxmlformats.org/officeDocument/2006/relationships/notesSlide" Target="/ppt/notesSlides/notesSlide4.xml" Id="R8a749acca24949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f98897fe448a2" /><Relationship Type="http://schemas.openxmlformats.org/officeDocument/2006/relationships/notesSlide" Target="/ppt/notesSlides/notesSlide5.xml" Id="R7b4fdf2b8f0045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dd06f663d456b" /><Relationship Type="http://schemas.openxmlformats.org/officeDocument/2006/relationships/notesSlide" Target="/ppt/notesSlides/notesSlide6.xml" Id="R7fd02658f3ba43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491e27e444f81" /><Relationship Type="http://schemas.openxmlformats.org/officeDocument/2006/relationships/notesSlide" Target="/ppt/notesSlides/notesSlide7.xml" Id="Rb0d8fb8f13aa44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e448c4a3043cd" /><Relationship Type="http://schemas.openxmlformats.org/officeDocument/2006/relationships/notesSlide" Target="/ppt/notesSlides/notesSlide8.xml" Id="R32b653052e384c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566cbd7644e3b" /><Relationship Type="http://schemas.openxmlformats.org/officeDocument/2006/relationships/notesSlide" Target="/ppt/notesSlides/notesSlide9.xml" Id="R141fb1c1ff5346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90fd957bd4c00" /><Relationship Type="http://schemas.openxmlformats.org/officeDocument/2006/relationships/notesSlide" Target="/ppt/notesSlides/notesSlide10.xml" Id="Red01a53dcb4d4f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96f6bd9594faf" /><Relationship Type="http://schemas.openxmlformats.org/officeDocument/2006/relationships/notesSlide" Target="/ppt/notesSlides/notesSlide11.xml" Id="Rd88bd91bf68d46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121ae1802473c" /><Relationship Type="http://schemas.openxmlformats.org/officeDocument/2006/relationships/notesSlide" Target="/ppt/notesSlides/notesSlide12.xml" Id="Rbc60f91fcf624c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0216B-EB11-4BC8-8349-E9807F8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122034"/>
                </a:solidFill>
              </a:defRPr>
            </a:pPr>
            <a:r>
              <a:rPr sz="3600" b="1" i="0">
                <a:solidFill>
                  <a:srgbClr val="122034"/>
                </a:solidFill>
              </a:rPr>
              <a:t>AI-Assisted Alert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226D-CB79-4E28-892F-91C79309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650" b="0" i="0">
                <a:solidFill>
                  <a:srgbClr val="5C6B82"/>
                </a:solidFill>
              </a:defRPr>
            </a:pPr>
            <a:r>
              <a:rPr sz="1650" b="0" i="0">
                <a:solidFill>
                  <a:srgbClr val="5C6B82"/>
                </a:solidFill>
              </a:rPr>
              <a:t>A sanctions alert investigation support system that combines deterministic evidence, machine learning, historical case retrieval, and grounded explanations.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01516-36D5-49FC-9F42-F4A8B8A6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EFFA"/>
          </a:solidFill>
          <a:ln xmlns:a="http://schemas.openxmlformats.org/drawingml/2006/main" w="9525">
            <a:solidFill>
              <a:srgbClr val="E4EF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45F9F"/>
                </a:solidFill>
              </a:defRPr>
            </a:pPr>
            <a:r>
              <a:rPr sz="975" b="1">
                <a:solidFill>
                  <a:srgbClr val="245F9F"/>
                </a:solidFill>
              </a:rPr>
              <a:t>FastAPI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E3B56-2AA6-463D-B0EE-AF7B32FE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2076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3EE"/>
          </a:solidFill>
          <a:ln xmlns:a="http://schemas.openxmlformats.org/drawingml/2006/main" w="9525">
            <a:solidFill>
              <a:srgbClr val="DFF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47C6C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47C6C"/>
                </a:solidFill>
              </a:defRPr>
            </a:pPr>
            <a:r>
              <a:rPr sz="975" b="1">
                <a:solidFill>
                  <a:srgbClr val="147C6C"/>
                </a:solidFill>
              </a:rPr>
              <a:t>XGBoost entity matcher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0BFE9-E1B7-4FF7-9DA6-0FE11D14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575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9525">
            <a:solidFill>
              <a:srgbClr val="FFF1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9A6A10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9A6A10"/>
                </a:solidFill>
              </a:defRPr>
            </a:pPr>
            <a:r>
              <a:rPr sz="975" b="1">
                <a:solidFill>
                  <a:srgbClr val="9A6A10"/>
                </a:solidFill>
              </a:rPr>
              <a:t>Analyst review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54BFF-3C5D-46A5-A37C-39042D52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28700"/>
            <a:ext cx="3429000" cy="35433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FB5C2-832B-4142-A478-B71F531D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90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22034"/>
                </a:solidFill>
              </a:defRPr>
            </a:pPr>
            <a:r>
              <a:rPr sz="1800" b="1" i="0">
                <a:solidFill>
                  <a:srgbClr val="122034"/>
                </a:solidFill>
              </a:rPr>
              <a:t>Core promise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09D2C-05A7-4248-BE4F-5FBC4831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58FEB-16D5-4A09-9FDF-353982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Explain why an alert looks real or false.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82BF4-2E5A-4C91-A013-F3098436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1625F-5A03-4AF3-B705-B24748AA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Rank multiple hits by evidence strength.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394E0-730B-4FBA-AABE-59DDB16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FAB35-B13A-42D9-921A-93ECB330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Surface similar historical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2932E-C312-43DD-8D95-71B37D3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793B3-E063-41AD-8274-AA95F788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Keep deterministic rules in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5783D-70D2-4A46-9A43-8EF999FE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01</a:t>
            </a:r>
          </a:p>
        </p:txBody>
      </p:sp>
    </p:spTree>
    <p:extLst>
      <p:ext uri="{BB962C8B-B14F-4D97-AF65-F5344CB8AC3E}">
        <p14:creationId xmlns:p14="http://schemas.microsoft.com/office/powerpoint/2010/main" val="34535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2EA2AD-69BA-47D5-8A0A-061DF4E2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6664A-8C09-40DC-8EA4-B4F26F81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The system helps analysts triage screening alerts with evidence that can be reviewed and challenged.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45341-71D4-4F0A-A7A4-EC339162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EBC0C-33AE-4166-B823-DA48863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4EFFA"/>
          </a:solidFill>
          <a:ln xmlns:a="http://schemas.openxmlformats.org/drawingml/2006/main" w="9525">
            <a:solidFill>
              <a:srgbClr val="E4EF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B1C60-1C82-4F3C-BFAD-671E6A44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C6B82"/>
                </a:solidFill>
              </a:defRPr>
            </a:pPr>
            <a:r>
              <a:rPr sz="975" b="1" i="0">
                <a:solidFill>
                  <a:srgbClr val="5C6B82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59E79-CF98-4838-A117-C8282D9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245F9F"/>
                </a:solidFill>
              </a:defRPr>
            </a:pPr>
            <a:r>
              <a:rPr sz="1800" b="1" i="0">
                <a:solidFill>
                  <a:srgbClr val="245F9F"/>
                </a:solidFill>
              </a:rPr>
              <a:t>Alert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3CFB1-60F0-4183-BD35-151B4A07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90700"/>
            <a:ext cx="2381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F3EE"/>
          </a:solidFill>
          <a:ln xmlns:a="http://schemas.openxmlformats.org/drawingml/2006/main" w="9525">
            <a:solidFill>
              <a:srgbClr val="DFF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9CA8D-9A55-46C1-A57D-78DAB6A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526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C6B82"/>
                </a:solidFill>
              </a:defRPr>
            </a:pPr>
            <a:r>
              <a:rPr sz="975" b="1" i="0">
                <a:solidFill>
                  <a:srgbClr val="5C6B82"/>
                </a:solidFill>
              </a:rPr>
              <a:t>Decision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5FA24-60DE-4251-A79C-B9AF1725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47C6C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47C6C"/>
                </a:solidFill>
              </a:defRPr>
            </a:pPr>
            <a:r>
              <a:rPr sz="1800" b="1" i="0">
                <a:solidFill>
                  <a:srgbClr val="147C6C"/>
                </a:solidFill>
              </a:rPr>
              <a:t>Recommendation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3473A-310A-4716-A00B-EAB1A8A4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790700"/>
            <a:ext cx="2247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9525">
            <a:solidFill>
              <a:srgbClr val="FFF1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05162-8EB7-4EA5-A8A7-7D60899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526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C6B82"/>
                </a:solidFill>
              </a:defRPr>
            </a:pPr>
            <a:r>
              <a:rPr sz="975" b="1" i="0">
                <a:solidFill>
                  <a:srgbClr val="5C6B82"/>
                </a:solidFill>
              </a:rPr>
              <a:t>Control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2B18F-C1BC-431D-BE63-2ECADB73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9A6A10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9A6A10"/>
                </a:solidFill>
              </a:defRPr>
            </a:pPr>
            <a:r>
              <a:rPr sz="1800" b="1" i="0">
                <a:solidFill>
                  <a:srgbClr val="9A6A10"/>
                </a:solidFill>
              </a:rPr>
              <a:t>Human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16746-043F-4308-B7B3-13C088CA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E277C-61D9-4A2D-9875-03C5A3C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C6B82"/>
                </a:solidFill>
              </a:defRPr>
            </a:pPr>
            <a:r>
              <a:rPr sz="975" b="1" i="0">
                <a:solidFill>
                  <a:srgbClr val="5C6B82"/>
                </a:solidFill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0D50A-94BD-4FC6-9FFF-8B6CBDA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22034"/>
                </a:solidFill>
              </a:defRPr>
            </a:pPr>
            <a:r>
              <a:rPr sz="1800" b="1" i="0">
                <a:solidFill>
                  <a:srgbClr val="122034"/>
                </a:solidFill>
              </a:rPr>
              <a:t>Audit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64226-C55B-4624-BD7D-EA725012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22034"/>
                </a:solidFill>
              </a:defRPr>
            </a:pPr>
            <a:r>
              <a:rPr sz="1650" b="1" i="0">
                <a:solidFill>
                  <a:srgbClr val="122034"/>
                </a:solidFill>
              </a:rPr>
              <a:t>What the system returns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89195-458A-4052-B3BA-C73155B3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118EA-92B8-4200-BB59-18E8844B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Classification recommendation for the best hit.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B312A-5FCB-4FAE-9000-523E9B5A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62EA8-D02A-49D8-85A7-E145BBEF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2910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Confidence, risk level, ranked hits, and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4D8ED6-B42C-4B0C-92A4-1280298F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BBB60-CB13-47A0-ACB7-CB766B7E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Historical cases ranked by third-party similarity.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D7F3D-75AA-4780-A9D0-5A3C2A17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AC2B5-9D6A-4EEC-B75C-1FFDB35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474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Reasoning text grounded in the computed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CA0FE9-63EA-40ED-B0A3-7E02FB8E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22034"/>
                </a:solidFill>
              </a:defRPr>
            </a:pPr>
            <a:r>
              <a:rPr sz="1650" b="1" i="0">
                <a:solidFill>
                  <a:srgbClr val="122034"/>
                </a:solidFill>
              </a:rPr>
              <a:t>What it does not 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A27B4-6986-43A7-A52E-EF617DB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6299CD-ABBC-44E0-A567-53AC8879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It does not replace screening engines.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BC62C-6797-47FC-9B41-4D4D2B5E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83291C-B040-4459-ADE7-FC11D1AC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It does not make the final compliance decision.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6B72BE-C42A-43F3-BE6F-9BAFF1B0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3783F-16B4-4D16-82AD-DD0448F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244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It does not invent missing identity attributes.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0B09C-D81C-424F-AABE-F16A7C26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95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E475EF-86D2-42D1-9D79-31D9950F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1970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It does not let an LLM override rules.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5D2519-E58D-476E-B6DD-CC194E1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02</a:t>
            </a:r>
          </a:p>
        </p:txBody>
      </p:sp>
    </p:spTree>
    <p:extLst>
      <p:ext uri="{BB962C8B-B14F-4D97-AF65-F5344CB8AC3E}">
        <p14:creationId xmlns:p14="http://schemas.microsoft.com/office/powerpoint/2010/main" val="1731546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7E456-5353-4C17-8190-8C38A8E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End-to-end processing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AEFD1-023A-4B86-BF83-83193476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Each stage adds structured evidence before the system writes the final analysis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7BAC1-9F87-4B69-8633-761781B2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7B9A2-80CE-41D1-A962-7DECB44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3048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F23F9-5881-49B6-87F8-B9BA17FA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B4696-0D3D-4C87-B849-86D75011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383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22034"/>
                </a:solidFill>
              </a:defRPr>
            </a:pPr>
            <a:r>
              <a:rPr sz="1350" b="1" i="0">
                <a:solidFill>
                  <a:srgbClr val="122034"/>
                </a:solidFill>
              </a:rPr>
              <a:t>Alert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BDFE7-424C-4FD5-9FC9-BDBA6A0A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145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C6B82"/>
                </a:solidFill>
              </a:defRPr>
            </a:pPr>
            <a:r>
              <a:rPr sz="1050" b="0" i="0">
                <a:solidFill>
                  <a:srgbClr val="5C6B82"/>
                </a:solidFill>
              </a:rPr>
              <a:t>Validates the alert JSON and creates the analysis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B9433-D9EF-412E-B3A5-8E47368E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3048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04F51-9826-4EDB-A358-95E1971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9F"/>
          </a:solidFill>
          <a:ln xmlns:a="http://schemas.openxmlformats.org/drawingml/2006/main" w="0">
            <a:solidFill>
              <a:srgbClr val="245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249AF-029B-4FB2-A196-D58272D8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383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22034"/>
                </a:solidFill>
              </a:defRPr>
            </a:pPr>
            <a:r>
              <a:rPr sz="1350" b="1" i="0">
                <a:solidFill>
                  <a:srgbClr val="122034"/>
                </a:solidFill>
              </a:rPr>
              <a:t>Attribute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AE6C0-C973-4F3C-B16B-1787C08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145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C6B82"/>
                </a:solidFill>
              </a:defRPr>
            </a:pPr>
            <a:r>
              <a:rPr sz="1050" b="0" i="0">
                <a:solidFill>
                  <a:srgbClr val="5C6B82"/>
                </a:solidFill>
              </a:rPr>
              <a:t>Compares third-party fields against each hit.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F6AFE-78A6-4049-B371-E902E3EE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85950"/>
            <a:ext cx="3048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A683E-0743-4F2E-B54B-74AC74ED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42B3B-9955-45D7-A626-CC42299B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22034"/>
                </a:solidFill>
              </a:defRPr>
            </a:pPr>
            <a:r>
              <a:rPr sz="1350" b="1" i="0">
                <a:solidFill>
                  <a:srgbClr val="122034"/>
                </a:solidFill>
              </a:rPr>
              <a:t>Rules and 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BF6D5-A35E-4730-80A8-F8156013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145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C6B82"/>
                </a:solidFill>
              </a:defRPr>
            </a:pPr>
            <a:r>
              <a:rPr sz="1050" b="0" i="0">
                <a:solidFill>
                  <a:srgbClr val="5C6B82"/>
                </a:solidFill>
              </a:rPr>
              <a:t>Applies rule thresholds and model probability.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96E8C-C504-4B8A-924A-78C9E2D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19450"/>
            <a:ext cx="3048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067E2-1992-4129-8A8A-D14DC05D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09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9F"/>
          </a:solidFill>
          <a:ln xmlns:a="http://schemas.openxmlformats.org/drawingml/2006/main" w="0">
            <a:solidFill>
              <a:srgbClr val="245F9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7B3E8-C5EF-4100-B9A7-718A025E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22034"/>
                </a:solidFill>
              </a:defRPr>
            </a:pPr>
            <a:r>
              <a:rPr sz="1350" b="1" i="0">
                <a:solidFill>
                  <a:srgbClr val="122034"/>
                </a:solidFill>
              </a:rPr>
              <a:t>Rank and retrieve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B487B-95D4-4935-B87E-7D2EB25E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480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C6B82"/>
                </a:solidFill>
              </a:defRPr>
            </a:pPr>
            <a:r>
              <a:rPr sz="1050" b="0" i="0">
                <a:solidFill>
                  <a:srgbClr val="5C6B82"/>
                </a:solidFill>
              </a:rPr>
              <a:t>Ranks hits and retrieves top historical cases.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FC879-52DC-4A77-BB9F-A752C34F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3048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A3B73-0691-4A41-9AF6-CF0F1848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F7EF5-0F60-454C-AD11-728E991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7185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22034"/>
                </a:solidFill>
              </a:defRPr>
            </a:pPr>
            <a:r>
              <a:rPr sz="1350" b="1" i="0">
                <a:solidFill>
                  <a:srgbClr val="122034"/>
                </a:solidFill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40686-068D-4BF3-B3DA-AE6D964B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48075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050" b="0" i="0">
                <a:solidFill>
                  <a:srgbClr val="5C6B82"/>
                </a:solidFill>
              </a:defRPr>
            </a:pPr>
            <a:r>
              <a:rPr sz="1050" b="0" i="0">
                <a:solidFill>
                  <a:srgbClr val="5C6B82"/>
                </a:solidFill>
              </a:rPr>
              <a:t>Generates an evidence-grounded summary for review.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1FBB4E-A89E-42DF-AA65-23F154A9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22034"/>
                </a:solidFill>
              </a:defRPr>
            </a:pPr>
            <a:r>
              <a:rPr sz="1650" b="1" i="0">
                <a:solidFill>
                  <a:srgbClr val="122034"/>
                </a:solidFill>
              </a:rPr>
              <a:t>Primary endpoint: POST /api/v1/alerts/analyze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BC197-56F7-4EDF-9814-4E739DA0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418FE-9D75-4F64-8BD3-6BCA37E7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836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The API saves the original alert and analysis in the prototype memory store.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1EB62-35BE-4E03-8809-91B65334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775EB9-C4A8-4CBC-97FB-BB29CC87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836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GET /api/v1/alerts/{alertId} returns the saved alert and its analysis.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0E1BA-D866-46CC-8323-CEC84B77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84FB6-6D54-48A5-817C-D9428D9E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836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Related endpoints expose cases, feedback, model metadata, rules, health, and readiness.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A2C8A-109A-4D98-810F-FE47926B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03</a:t>
            </a:r>
          </a:p>
        </p:txBody>
      </p:sp>
    </p:spTree>
    <p:extLst>
      <p:ext uri="{BB962C8B-B14F-4D97-AF65-F5344CB8AC3E}">
        <p14:creationId xmlns:p14="http://schemas.microsoft.com/office/powerpoint/2010/main" val="1097239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E0781-49A8-430A-8DC2-9DC090C9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Backend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FE12-F39D-4C27-8B57-633A20ED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Services stay separated so rules, ML, case retrieval, and explanation can evolve independently.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9C448-0D65-4C1F-A751-129BD318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415F7-7C23-437B-B873-F53D8160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245F9F"/>
                </a:solidFill>
              </a:defRPr>
            </a:pPr>
            <a:r>
              <a:rPr sz="1500" b="1" i="0">
                <a:solidFill>
                  <a:srgbClr val="245F9F"/>
                </a:solidFill>
              </a:rPr>
              <a:t>API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34DAC-7167-4523-BB3A-68C5BF6F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FastAPI routers validate requests and expose alert, case, feedback, model, rule, health, and readiness endpoints.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7AE53-694B-4FBE-BE28-3F24C9FE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91605-43D8-4919-8DCD-69680FCD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245F9F"/>
                </a:solidFill>
              </a:defRPr>
            </a:pPr>
            <a:r>
              <a:rPr sz="1500" b="1" i="0">
                <a:solidFill>
                  <a:srgbClr val="245F9F"/>
                </a:solidFill>
              </a:rPr>
              <a:t>Schemas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BEFE3-CEAB-436C-B733-A6B0D544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Pydantic models define request and response contracts for alerts, cases, rules, and analysis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D6291-9619-4087-8A41-4042691B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EC4CD-1D1E-4076-9327-FE46871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245F9F"/>
                </a:solidFill>
              </a:defRPr>
            </a:pPr>
            <a:r>
              <a:rPr sz="1500" b="1" i="0">
                <a:solidFill>
                  <a:srgbClr val="245F9F"/>
                </a:solidFill>
              </a:rPr>
              <a:t>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616EF-3FB4-4B36-9BAF-6B457FBA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Attribute matcher, rule engine, ML service, ranker, risk engine, case retrieval, and LLM provider perform the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1484E-6245-442D-817A-D84D77D7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EB2F0-EA54-45D5-962C-97F37DA8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245F9F"/>
                </a:solidFill>
              </a:defRPr>
            </a:pPr>
            <a:r>
              <a:rPr sz="1500" b="1" i="0">
                <a:solidFill>
                  <a:srgbClr val="245F9F"/>
                </a:solidFill>
              </a:rPr>
              <a:t>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7BBBE-858F-4654-AF8E-7ABF154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148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A memory repository supports local demos while SQLAlchemy models and Alembic migrations define the production shape.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A3169-C188-4089-AEB4-88EEF088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EF47E-411C-4260-AFFD-CA6B656B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245F9F"/>
                </a:solidFill>
              </a:defRPr>
            </a:pPr>
            <a:r>
              <a:rPr sz="1500" b="1" i="0">
                <a:solidFill>
                  <a:srgbClr val="245F9F"/>
                </a:solidFill>
              </a:rP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36271-DDB3-40B7-9E73-A7B6783C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958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Static HTML, CSS, and vanilla JavaScript call the same analyze API and display analyst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37EED-FA8B-458D-93D1-2FE90B5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944DF-C1A9-4C94-9EB3-98AF9C52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04</a:t>
            </a:r>
          </a:p>
        </p:txBody>
      </p:sp>
    </p:spTree>
    <p:extLst>
      <p:ext uri="{BB962C8B-B14F-4D97-AF65-F5344CB8AC3E}">
        <p14:creationId xmlns:p14="http://schemas.microsoft.com/office/powerpoint/2010/main" val="2137815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13EC7-0E7A-46B1-9434-111E522A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Attribute matching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0BD40-4BEF-4B37-B61D-CC1AA3F7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The matcher converts raw third-party and hit fields into explainable evidence objects.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51975-C40D-45BA-BED6-51668846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19E66-2D18-4B2D-9219-D08B4FB8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22034"/>
                </a:solidFill>
              </a:defRPr>
            </a:pPr>
            <a:r>
              <a:rPr sz="1650" b="1" i="0">
                <a:solidFill>
                  <a:srgbClr val="122034"/>
                </a:solidFill>
              </a:rPr>
              <a:t>Compared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458B9-9BB6-4810-9DDA-C7D7F40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1289B-342B-42A5-882E-86F0EC60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Name and aliases use fuzzy similarity with optional embedding support.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7F491-9356-4C3C-A4CA-A5FB8B90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F54BB-C6B4-46C5-AD5A-DE13F314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Country uses normalized exact comparison.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B8135-406A-4B4F-A8C6-78FB8DA2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C12CF-C83F-4C07-9350-E53C021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City and address use text similarity.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7A18B-1F3B-4B1F-99D7-3FE3735F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E7585-CCAB-4DE3-8976-4E33BC9D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DOB, passport, tax ID, and registration number use normalized identifier comparison.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62D7-6650-4863-898A-E4654AB8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122034"/>
                </a:solidFill>
              </a:defRPr>
            </a:pPr>
            <a:r>
              <a:rPr sz="1650" b="1" i="0">
                <a:solidFill>
                  <a:srgbClr val="122034"/>
                </a:solidFill>
              </a:rPr>
              <a:t>Evidence returned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79050-0E8D-41EC-8426-F218CCAE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B436C-62C8-433F-B12D-625A368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Each field returns MATCH, PARTIAL_MATCH, MISMATCH, or NOT_AVAILABLE.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4534C-9ABB-4E0B-86EB-F9252D4D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41BDF-1545-4913-BBCB-F58417D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Each result carries similarity, weight, and human-readable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1262E-19C9-44DF-80CE-83A69C1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E0B1A-07C1-4587-B65B-888B1699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Weights come from rules/matching_rules.yaml.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A3B90-1B5C-4BE9-881E-91BBB81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91A39-9140-4F54-9FF9-124EF732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290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Missing values reduce data quality but do not become false mismatches.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2165C-0283-4BB1-971F-A7934F1F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954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EE5A4-0875-48FA-8D9B-73F170E2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05</a:t>
            </a:r>
          </a:p>
        </p:txBody>
      </p:sp>
    </p:spTree>
    <p:extLst>
      <p:ext uri="{BB962C8B-B14F-4D97-AF65-F5344CB8AC3E}">
        <p14:creationId xmlns:p14="http://schemas.microsoft.com/office/powerpoint/2010/main" val="923630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41441-AF2D-4358-BAE6-A60B7B1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Decision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578D6-86C2-423D-99E2-5FAAD64A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The recommendation blends deterministic rules with model probability while keeping override rules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2196E-046B-40D3-8F38-346433CF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5ED76-01A7-44EB-982C-226B5593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22034"/>
                </a:solidFill>
              </a:defRPr>
            </a:pPr>
            <a:r>
              <a:rPr sz="1800" b="1" i="0">
                <a:solidFill>
                  <a:srgbClr val="122034"/>
                </a:solidFill>
              </a:rPr>
              <a:t>Rule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7C4AC-1216-4806-BE58-57F88126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91BE9-14BD-49C2-85FA-7E973AF2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Computes a normalized weighted score from available attributes.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55839-C686-40C6-B7D7-6F208DF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F93C0-7961-4147-ADF6-F55AA2D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Critical identifier mismatches force FALSE_POSITIVE.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D11C8-BB40-425E-BDC1-932D0747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C49EA-6357-418C-941B-244A51EE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Two high-priority mismatches also force FALSE_POSITIVE.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ABA2E-1076-42F8-BEB4-3A38C83D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00AD8-5514-4C31-AE89-1BD03916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436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Thresholds decide TRUE_ALERT, FALSE_POSITIVE, or INCONCLUSIVE.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D1F03-4DDC-4781-8F4F-74AC27FE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52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22034"/>
                </a:solidFill>
              </a:defRPr>
            </a:pPr>
            <a:r>
              <a:rPr sz="1800" b="1" i="0">
                <a:solidFill>
                  <a:srgbClr val="122034"/>
                </a:solidFill>
              </a:rPr>
              <a:t>Final combination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14E14-EDC1-4191-B219-A91D65AC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F020D-248F-4270-B951-A6FABC8F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Rules decide the initial classification.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5B755-8663-4996-A6EA-B54FC7B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3AC60-E521-4A76-B932-8F811B3A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622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XGBoost probability confirms or challenges the rule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E8C44A-2FDF-4471-9D5A-86DB100B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59D19-FB6B-48D3-9FBD-314A8035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The best hit drives risk, confidence, and summary.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90BFB-EE5E-4BE3-956B-0DED6942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DDD70-8F6C-4391-B5EB-E3AE7EA0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528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The response always marks analyst review as required.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7444D-4E90-4735-9033-59E3F03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57800"/>
            <a:ext cx="762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FF3EE"/>
          </a:solidFill>
          <a:ln xmlns:a="http://schemas.openxmlformats.org/drawingml/2006/main" w="9525">
            <a:solidFill>
              <a:srgbClr val="147C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35D3F-6486-4DB6-A420-C1AF52F1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147C6C"/>
                </a:solidFill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147C6C"/>
                </a:solidFill>
              </a:defRPr>
            </a:pPr>
            <a:r>
              <a:rPr sz="1350" b="1" i="0">
                <a:solidFill>
                  <a:srgbClr val="147C6C"/>
                </a:solidFill>
              </a:rPr>
              <a:t>The LLM explains the computed evidence. It does not decide the classification.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8EB66-29BD-4FEB-A46F-0E2FCCAB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06</a:t>
            </a:r>
          </a:p>
        </p:txBody>
      </p:sp>
    </p:spTree>
    <p:extLst>
      <p:ext uri="{BB962C8B-B14F-4D97-AF65-F5344CB8AC3E}">
        <p14:creationId xmlns:p14="http://schemas.microsoft.com/office/powerpoint/2010/main" val="1350473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0061E-0323-41E7-A576-CCC3C78C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AI models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C1199-0D0A-46FA-95EC-54EEC67C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The project uses machine learning for entity match probability and an LLM provider for evidence-grounded 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902A9-B776-4C01-9518-419C641C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386F5-5B1F-4114-8308-86DC8AD4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57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09ABB-D5A9-4189-BDC9-36A38779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147C6C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147C6C"/>
                </a:solidFill>
              </a:defRPr>
            </a:pPr>
            <a:r>
              <a:rPr sz="1575" b="1" i="0">
                <a:solidFill>
                  <a:srgbClr val="147C6C"/>
                </a:solidFill>
              </a:rPr>
              <a:t>XGBoost classifier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FE923-2F53-40C4-A81E-9734D26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Predicts true-match probability from structured features such as name similarity, identifier matches, screening score, level, list type, and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486C4-B4D5-40E0-8E24-B0AA0BAD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71650"/>
            <a:ext cx="457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5D953-2724-415C-9633-388922C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245F9F"/>
                </a:solidFill>
              </a:defRPr>
            </a:pPr>
            <a:r>
              <a:rPr sz="1575" b="1" i="0">
                <a:solidFill>
                  <a:srgbClr val="245F9F"/>
                </a:solidFill>
              </a:rPr>
              <a:t>Calibration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7C097-4579-4636-B8DD-22FE702A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Wraps the classifier so predicted probabilities are more usable for confidence scoring and threshold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7664A-BA49-48FD-8F8B-B6A8AED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57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6133E-C505-4733-8CBB-2126AF8D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245F9F"/>
                </a:solidFill>
              </a:defRPr>
            </a:pPr>
            <a:r>
              <a:rPr sz="1575" b="1" i="0">
                <a:solidFill>
                  <a:srgbClr val="245F9F"/>
                </a:solidFill>
              </a:rPr>
              <a:t>Embedding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80F20-8119-4353-A87B-E0BB426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529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Supports name and case-text similarity. Sentence-transformer loading is optional and disabled by default for lightweight local testing.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53762-A86F-4935-9A88-93AFA6FF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4572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DE59A-0822-4C84-B82C-3959380F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245F9F"/>
                </a:solidFill>
              </a:defRPr>
            </a:pPr>
            <a:r>
              <a:rPr sz="1575" b="1" i="0">
                <a:solidFill>
                  <a:srgbClr val="245F9F"/>
                </a:solidFill>
              </a:rPr>
              <a:t>LLM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66550-164A-4098-B3D9-53909CF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LocalGroundedLLMProvider creates deterministic summaries. OpenAI or Azure OpenAI can be enabled with configuration for richer summarization.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157D7-34D0-481A-B48C-7BDD70A8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07</a:t>
            </a:r>
          </a:p>
        </p:txBody>
      </p:sp>
    </p:spTree>
    <p:extLst>
      <p:ext uri="{BB962C8B-B14F-4D97-AF65-F5344CB8AC3E}">
        <p14:creationId xmlns:p14="http://schemas.microsoft.com/office/powerpoint/2010/main" val="610920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6243D2-839B-4F63-951B-5F10FC00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Why XGBoost fits this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0BF7E-006A-492A-A385-EAFD5FDE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Entity matching is mostly a structured tabular decision, not a free-text generation problem.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94EF0-19EB-4496-900C-F7433EBA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1C262-55DF-40B4-855D-91588A4B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147C6C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147C6C"/>
                </a:solidFill>
              </a:defRPr>
            </a:pPr>
            <a:r>
              <a:rPr sz="1800" b="1" i="0">
                <a:solidFill>
                  <a:srgbClr val="147C6C"/>
                </a:solidFill>
              </a:rPr>
              <a:t>Good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BE234-9D58-42F8-B25F-CAE646A1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668F7-89B5-4B57-AEA3-47AB8F45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Handles mixed numeric and binary features well.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F583F-DEA4-4B93-826B-010577FE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F3556-EF88-47E2-B729-CD5499BD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Works with limited training data better than deep learning models.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CCD62-4116-4857-B56D-A72061C4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BCEFA-B380-484F-8482-790ED655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Captures non-linear patterns across fields.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0312F-4E9B-47AF-9151-DD109AF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90726-E5C6-4195-A994-9F778C9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Produces feature-based probability that can support audit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7FB9A-6376-40AA-961D-E03B3C5D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52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800" b="1" i="0">
                <a:solidFill>
                  <a:srgbClr val="245F9F"/>
                </a:solidFill>
              </a:defRPr>
            </a:pPr>
            <a:r>
              <a:rPr sz="1800" b="1" i="0">
                <a:solidFill>
                  <a:srgbClr val="245F9F"/>
                </a:solidFill>
              </a:rPr>
              <a:t>Alternatives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7BFE5-9F9A-4EC4-B9CE-3568F458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88B91-8E35-4CE4-A354-FEE33FE2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Logistic regression is simpler but can miss interactions.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C3053-4171-445D-A8D4-42A02AD6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E401D-150B-4114-8A5A-5AF877C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Random forest is useful but usually less precise for calibrated ranking.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61ADA-9F96-4425-A99E-BE4C2CF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CAC72-DFE2-4550-B9D4-F65D8169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LLMs can explain evidence but should not own deterministic identity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091BC-1393-486F-93B3-5851F769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CC6A5-054D-4EC7-9C95-CA5C1672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A production model needs real historical labels, not only synthetic data.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47856-F931-454C-BB87-01A6DCE9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08</a:t>
            </a:r>
          </a:p>
        </p:txBody>
      </p:sp>
    </p:spTree>
    <p:extLst>
      <p:ext uri="{BB962C8B-B14F-4D97-AF65-F5344CB8AC3E}">
        <p14:creationId xmlns:p14="http://schemas.microsoft.com/office/powerpoint/2010/main" val="16450726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284631-BC9A-4FC9-A3BA-AE7491BA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Historical case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8F39D-A173-4416-94F1-7D59453D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Cases are retrieved by comparing the current third party to stored historical third parties.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27E9F-B0EC-4E1F-AF33-B9A8855F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5F935-E4F0-4302-A744-3E283CC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122034"/>
                </a:solidFill>
              </a:defRPr>
            </a:pPr>
            <a:r>
              <a:rPr sz="1725" b="1" i="0">
                <a:solidFill>
                  <a:srgbClr val="122034"/>
                </a:solidFill>
              </a:rPr>
              <a:t>Similarity fields and weights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DE283-259F-4CCA-AD46-6334F043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859F9-E10B-4122-B66D-18C2827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19349-3FA7-4907-8CB3-1D81934A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B19CC-28E0-4B40-B59D-DB49AA9A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Country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F9DC7-1AEA-4F15-982A-3C7F6ADD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09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B8706-27B5-4B06-8999-653CD15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D871A-2675-4A35-BDD7-054D5AFC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DOB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00B3B-4913-4FA1-9C26-E775F1BD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93520-0DEA-4DEC-9374-DA04B276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BFB01-7D02-4780-85EC-3C4068E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Passport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72994-9125-4C1C-95A4-57394F38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33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67191-365B-4916-A6FD-825F55AC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B9B7D-2714-4793-9F46-9D718DE0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Registration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6D571-6396-4B27-8F27-4D92F405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4AC4A-95AB-4067-A76A-35ABEFD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96AFB-58E5-46B8-9277-22F71E99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Tax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38707-36CF-4538-B131-BBF08C3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576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A8DFF-6440-4BFA-97B9-0CE768F9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265EA-90EC-4E83-B1BF-1F098F70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14052-72C0-4C1E-8250-BCC6030C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196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6716F-A92B-49AA-83DA-4E4DD362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CB36E-6A66-4486-9CC0-8F1593A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122034"/>
                </a:solidFill>
              </a:defRPr>
            </a:pPr>
            <a:r>
              <a:rPr sz="1200" b="1" i="0">
                <a:solidFill>
                  <a:srgbClr val="122034"/>
                </a:solidFill>
              </a:rPr>
              <a:t>Address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D9D454-BB60-4C9D-922E-82F5626F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5C6B82"/>
                </a:solidFill>
              </a:defRPr>
            </a:pPr>
            <a:r>
              <a:rPr sz="1200" b="0" i="0">
                <a:solidFill>
                  <a:srgbClr val="5C6B82"/>
                </a:solidFill>
              </a:rPr>
              <a:t>0.05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F993E-FA16-4704-817F-21B6EB3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71434-8709-408C-894D-4989C86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2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122034"/>
                </a:solidFill>
              </a:defRPr>
            </a:pPr>
            <a:r>
              <a:rPr sz="1725" b="1" i="0">
                <a:solidFill>
                  <a:srgbClr val="122034"/>
                </a:solidFill>
              </a:rPr>
              <a:t>UI behavior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75574-58B1-478A-B36E-71F6F8B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43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6859B3-9096-4D7C-9622-48B66B16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The backend scores every stored historical case.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BEEE3E-C126-4EB6-B15D-29ACBA56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18AD12-A58F-4AE0-9E7D-DE21CFE3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The top three cases are returned by similarity.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4A7D8-ACEC-4D73-92E3-7CBD5383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4D57CC-7811-40FD-AEB7-3E44D4BF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The UI shows which fields matched, partially matched, or mismatched.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21AD73-943B-4933-910F-FEF0C53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D1106C-56CC-4967-8E94-434A2EE9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Prior analyst decisions provide context but do not decide the new alert.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054564-8B45-46A0-8488-45B7016F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09</a:t>
            </a:r>
          </a:p>
        </p:txBody>
      </p:sp>
    </p:spTree>
    <p:extLst>
      <p:ext uri="{BB962C8B-B14F-4D97-AF65-F5344CB8AC3E}">
        <p14:creationId xmlns:p14="http://schemas.microsoft.com/office/powerpoint/2010/main" val="13038973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9D833-A286-45DA-83DA-47CBC5CA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Analyst UI and API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8C895-D260-4CC7-A385-CDB106D8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The frontend keeps the important fields visible and leaves detailed evidence expandable.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F0CC8-68BB-4A03-B1CF-927459D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8271B-D5A8-4730-81A3-09479AE2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122034"/>
                </a:solidFill>
              </a:defRPr>
            </a:pPr>
            <a:r>
              <a:rPr sz="1725" b="1" i="0">
                <a:solidFill>
                  <a:srgbClr val="122034"/>
                </a:solidFill>
              </a:rPr>
              <a:t>Frontend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00054-61B9-43BC-8D4D-C8991214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4ECEA-F136-4F4B-AE8A-CEC197D3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Static HTML served by FastAPI at the root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00099-F66F-46E5-828D-F78A6A1D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E6731-A9D7-49B2-83CC-5AF3FD42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CSS defines the modern dashboard layout.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0CDE3-AEDA-443B-A499-1C6D2BA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FC1AC-9102-4A38-810A-FB415068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Vanilla JavaScript formats JSON, calls the analyze API, and renders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0CAB4-4A5E-4DE2-A60B-E2C021D1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383BB-6C98-44CD-917A-6363BF2B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No separate frontend build step is required.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7C144-45AF-41A8-BB17-4CC77FFE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122034"/>
                </a:solidFill>
              </a:defRPr>
            </a:pPr>
            <a:r>
              <a:rPr sz="1725" b="1" i="0">
                <a:solidFill>
                  <a:srgbClr val="122034"/>
                </a:solidFill>
              </a:rPr>
              <a:t>Postman test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EB35B-2048-41CB-A8F2-D7639540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8BEB0-9B83-4795-BF8F-7F2396C3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Method: 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1C4C0-0EB3-42C8-9A15-BEFA24BC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9FA56-2F7F-41CA-90B6-65D7DE31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035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URL: http://127.0.0.1:8000/api/v1/alerts/analyze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BD9A4-2536-4C54-8FAA-AA775AD4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8E5BF-1FB7-4749-B93A-D912DFCC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Header: Content-Type application/json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DF47CB-2908-482B-8DB0-3136BF2B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D963B-DF3B-44CB-A230-8CF3A12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3886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122034"/>
                </a:solidFill>
              </a:defRPr>
            </a:pPr>
            <a:r>
              <a:rPr sz="1275" b="0" i="0">
                <a:solidFill>
                  <a:srgbClr val="122034"/>
                </a:solidFill>
              </a:rPr>
              <a:t>Body: tests/fixtures/true_positive.json or false_positive.json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9E2F1-035C-44EE-8679-118A018D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10</a:t>
            </a:r>
          </a:p>
        </p:txBody>
      </p:sp>
    </p:spTree>
    <p:extLst>
      <p:ext uri="{BB962C8B-B14F-4D97-AF65-F5344CB8AC3E}">
        <p14:creationId xmlns:p14="http://schemas.microsoft.com/office/powerpoint/2010/main" val="1044024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7E8C66-8D3B-4A1D-A239-515389B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Production readiness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6B353-0803-4CB0-868B-92AF86D3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The prototype already has the right separation of concerns, but production needs stronger data, controls, and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92BA5-C7B5-4A01-8BE0-8173D9BE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9385A-6F3D-4B3E-A700-04AD00A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147C6C"/>
                </a:solidFill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147C6C"/>
                </a:solidFill>
              </a:defRPr>
            </a:pPr>
            <a:r>
              <a:rPr sz="1725" b="1" i="0">
                <a:solidFill>
                  <a:srgbClr val="147C6C"/>
                </a:solidFill>
              </a:rPr>
              <a:t>Already implemented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A5390-CC8B-42F4-8635-B42DD40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1E71B-A947-45ED-908F-621C8830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API contract and response schema.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DB81E-2EED-4252-970A-92BC99C5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190F3-B0EA-48A6-8339-78A6F001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Configurable rules and thresholds.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81424-261B-4572-B6EE-2766D71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41E0E-15CF-43A5-818F-BCD09CB3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Model artifact loading with heuristic fallback.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83908-EA6F-43A7-BA42-BE79CC77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C7318-9029-4415-ACEF-1404D06A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Seeded historical cases and analyst feedback endpoint.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76A15-7C51-4C3F-812E-288E9C0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4AB09-AF26-41B6-B901-82F5D75C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Docker, tests, and training notebook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688E2-7290-4C57-B9E4-2180E13D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 i="0">
                <a:solidFill>
                  <a:srgbClr val="245F9F"/>
                </a:solidFill>
              </a:defRPr>
            </a:defPPr>
          </a:lstStyle>
          <a:p xmlns:a="http://schemas.openxmlformats.org/drawingml/2006/main">
            <a:pPr>
              <a:defRPr sz="1725" b="1" i="0">
                <a:solidFill>
                  <a:srgbClr val="245F9F"/>
                </a:solidFill>
              </a:defRPr>
            </a:pPr>
            <a:r>
              <a:rPr sz="1725" b="1" i="0">
                <a:solidFill>
                  <a:srgbClr val="245F9F"/>
                </a:solidFill>
              </a:rPr>
              <a:t>Next improvements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F5524-6401-4E14-862E-B282C6A0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BD15C-774A-4554-B6DD-F3BCF774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Train on real historical outcomes with governance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ABE10-9A97-44F0-82C1-5B7562B0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19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3CB5A-B0E0-42AB-B639-8522A322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Persist alerts, cases, feedback, and audit logs in PostgreSQL.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D6BEE-C81A-4BD3-B9D8-ED06B49F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F864D-9881-4E58-9055-DB18ECDC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Use pgvector or a managed vector store for scalable case search.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42798-28A4-46F6-A249-EFEA0990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EEB2D-668F-41E3-A7C2-D2717BB2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Enable hosted LLM summaries with strict evidence grounding.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9A083-EAAC-4B8A-B553-7832D74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E6A80D-A2B0-4A96-8B91-F19831F1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1480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200" b="0" i="0">
                <a:solidFill>
                  <a:srgbClr val="122034"/>
                </a:solidFill>
              </a:defRPr>
            </a:pPr>
            <a:r>
              <a:rPr sz="1200" b="0" i="0">
                <a:solidFill>
                  <a:srgbClr val="122034"/>
                </a:solidFill>
              </a:rPr>
              <a:t>Add monitoring for drift, false positives, and override rates.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3E687-7E45-422F-8540-8FD3BB9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11</a:t>
            </a:r>
          </a:p>
        </p:txBody>
      </p:sp>
    </p:spTree>
    <p:extLst>
      <p:ext uri="{BB962C8B-B14F-4D97-AF65-F5344CB8AC3E}">
        <p14:creationId xmlns:p14="http://schemas.microsoft.com/office/powerpoint/2010/main" val="803303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D9149-F4A6-4D23-94C9-B8937C8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122034"/>
                </a:solidFill>
              </a:defRPr>
            </a:pPr>
            <a:r>
              <a:rPr sz="2550" b="1" i="0">
                <a:solidFill>
                  <a:srgbClr val="122034"/>
                </a:solidFill>
              </a:rPr>
              <a:t>Recommended demo script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C6DAF-88EF-4A02-9244-E4D1E11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A short walkthrough can show the full value without needing production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8ABE7-9D9E-4F4B-A526-5CA0820D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DE43E-89C0-4EC2-B370-92A0DBE8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4C226-BD31-4EDE-9750-6CD3CEAA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5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122034"/>
                </a:solidFill>
              </a:defRPr>
            </a:pPr>
            <a:r>
              <a:rPr sz="1575" b="1" i="0">
                <a:solidFill>
                  <a:srgbClr val="122034"/>
                </a:solidFill>
              </a:rPr>
              <a:t>Start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AAA4D-2678-4479-B656-72272635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716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Run Uvicorn and open the built-in UI.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B6E26-3D9E-4143-9BE3-42737B2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4E978-82D5-4511-A0A2-1F616AA5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6B131-4F9D-4033-A6E6-EF76E608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95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122034"/>
                </a:solidFill>
              </a:defRPr>
            </a:pPr>
            <a:r>
              <a:rPr sz="1575" b="1" i="0">
                <a:solidFill>
                  <a:srgbClr val="122034"/>
                </a:solidFill>
              </a:rPr>
              <a:t>Submit true alert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A0659-BB30-4361-B577-6D679EB2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Show strong identity evidence, ranked hits, and high confidence.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86C3A-B16C-4CBD-9A34-A0E36FC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E226E-097C-4BE0-8CD4-24066402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D54ED-F425-4BBB-BB01-66DEAC23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38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122034"/>
                </a:solidFill>
              </a:defRPr>
            </a:pPr>
            <a:r>
              <a:rPr sz="1575" b="1" i="0">
                <a:solidFill>
                  <a:srgbClr val="122034"/>
                </a:solidFill>
              </a:rPr>
              <a:t>Submit false positive 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9FC03-AD5B-4718-B05D-73387D3E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57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Show DOB or identifier mismatch and explain why the recommendation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A5D4C-ED4F-461B-853F-270FEF7A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03641-40A8-4ED0-BC35-1EFF8C7D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C4EB5B-5CE3-41C3-97BC-849EEBDB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122034"/>
                </a:solidFill>
              </a:defRPr>
            </a:pPr>
            <a:r>
              <a:rPr sz="1575" b="1" i="0">
                <a:solidFill>
                  <a:srgbClr val="122034"/>
                </a:solidFill>
              </a:rPr>
              <a:t>Open historical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E92DA-CEDA-4358-B543-6C60BA3D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Show top three cases and matched fields against the current third party.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1407C-60D2-4563-8CEB-AD421792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B8CD7-1462-4CDE-A10E-79E36317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6C"/>
          </a:solidFill>
          <a:ln xmlns:a="http://schemas.openxmlformats.org/drawingml/2006/main" w="0">
            <a:solidFill>
              <a:srgbClr val="147C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FD794-5718-4A49-8B6E-715FE66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24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122034"/>
                </a:solidFill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122034"/>
                </a:solidFill>
              </a:defRPr>
            </a:pPr>
            <a:r>
              <a:rPr sz="1575" b="1" i="0">
                <a:solidFill>
                  <a:srgbClr val="122034"/>
                </a:solidFill>
              </a:rPr>
              <a:t>Review audit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AA80D-4E78-440A-BDBE-140F2E4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434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5C6B82"/>
                </a:solidFill>
              </a:defRPr>
            </a:pPr>
            <a:r>
              <a:rPr sz="1275" b="0" i="0">
                <a:solidFill>
                  <a:srgbClr val="5C6B82"/>
                </a:solidFill>
              </a:rPr>
              <a:t>Show rule version, model version, input hash, and analyst review flag.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D6D34-CE97-4012-8B9A-FF1C59C8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790BA-EC08-45A0-9118-A8198C7C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 i="0">
                <a:solidFill>
                  <a:srgbClr val="5C6B82"/>
                </a:solidFill>
              </a:defRPr>
            </a:defPPr>
          </a:lstStyle>
          <a:p xmlns:a="http://schemas.openxmlformats.org/drawingml/2006/main">
            <a:pPr>
              <a:defRPr sz="825" b="0" i="0">
                <a:solidFill>
                  <a:srgbClr val="5C6B82"/>
                </a:solidFill>
              </a:defRPr>
            </a:pPr>
            <a:r>
              <a:rPr sz="825" b="0" i="0">
                <a:solidFill>
                  <a:srgbClr val="5C6B82"/>
                </a:solidFill>
              </a:rPr>
              <a:t>AI-Assisted Alert Analysis  12</a:t>
            </a:r>
          </a:p>
        </p:txBody>
      </p:sp>
    </p:spTree>
    <p:extLst>
      <p:ext uri="{BB962C8B-B14F-4D97-AF65-F5344CB8AC3E}">
        <p14:creationId xmlns:p14="http://schemas.microsoft.com/office/powerpoint/2010/main" val="933187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2026-10-08T14:38:58.0180000Z</dcterms:created>
  <dcterms:modified xsi:type="dcterms:W3CDTF">2026-10-08T14:38:58.0180000Z</dcterms:modified>
</coreProperties>
</file>